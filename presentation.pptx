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97" d="100"/>
          <a:sy n="197" d="100"/>
        </p:scale>
        <p:origin x="666" y="1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6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28800" y="731520"/>
            <a:ext cx="54864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78BFA"/>
                </a:solidFill>
                <a:latin typeface="Arial"/>
              </a:defRPr>
            </a:pPr>
            <a:r>
              <a:rPr dirty="0" err="1"/>
              <a:t>Яндекс.Лицей</a:t>
            </a:r>
            <a:r>
              <a:rPr dirty="0"/>
              <a:t> 202</a:t>
            </a:r>
            <a:r>
              <a:rPr lang="ru-RU" dirty="0"/>
              <a:t>6</a:t>
            </a:r>
            <a:r>
              <a:rPr dirty="0"/>
              <a:t>  •  </a:t>
            </a:r>
            <a:r>
              <a:rPr dirty="0" err="1"/>
              <a:t>Проектная</a:t>
            </a:r>
            <a:r>
              <a:rPr dirty="0"/>
              <a:t> </a:t>
            </a:r>
            <a:r>
              <a:rPr dirty="0" err="1"/>
              <a:t>работа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A78BFA"/>
                </a:solidFill>
                <a:latin typeface="Arial"/>
              </a:defRPr>
            </a:pPr>
            <a:r>
              <a:t>Hands-On Experts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8888A0"/>
                </a:solidFill>
                <a:latin typeface="Arial"/>
              </a:defRPr>
            </a:pPr>
            <a:r>
              <a:t>Платформа для поиска IT-специалистов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3200400"/>
            <a:ext cx="2743200" cy="1828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3566160"/>
            <a:ext cx="7315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B5CF6"/>
                </a:solidFill>
                <a:latin typeface="Arial"/>
              </a:defRPr>
            </a:pPr>
            <a:r>
              <a:rPr lang="ru-RU" dirty="0"/>
              <a:t>Протасов Фёдор  </a:t>
            </a:r>
            <a:r>
              <a:rPr dirty="0"/>
              <a:t>•</a:t>
            </a:r>
            <a:r>
              <a:rPr lang="ru-RU" dirty="0"/>
              <a:t>  Шепелев Степан 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6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0" y="274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78BFA"/>
                </a:solidFill>
                <a:latin typeface="Arial"/>
              </a:defRPr>
            </a:pPr>
            <a:r>
              <a:t>ВВЕДЕНИЕ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E8E8F0"/>
                </a:solidFill>
                <a:latin typeface="Arial"/>
              </a:defRPr>
            </a:pPr>
            <a:r>
              <a:t>Идея проекта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2560320" cy="1828800"/>
          </a:xfrm>
          <a:prstGeom prst="roundRect">
            <a:avLst/>
          </a:prstGeom>
          <a:solidFill>
            <a:srgbClr val="0C0C14"/>
          </a:solidFill>
          <a:ln w="12700">
            <a:solidFill>
              <a:srgbClr val="1C1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  <a:latin typeface="Arial"/>
              </a:defRPr>
            </a:pPr>
            <a:r>
              <a:t>❓  Проблема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65960"/>
            <a:ext cx="2194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A0"/>
                </a:solidFill>
                <a:latin typeface="Arial"/>
              </a:defRPr>
            </a:pPr>
            <a:r>
              <a:t>Работодателям сложно найти проверенных IT-специалистов с подтверждённым опытом и навыками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40" y="1463040"/>
            <a:ext cx="2560320" cy="1828800"/>
          </a:xfrm>
          <a:prstGeom prst="roundRect">
            <a:avLst/>
          </a:prstGeom>
          <a:solidFill>
            <a:srgbClr val="0C0C14"/>
          </a:solidFill>
          <a:ln w="12700">
            <a:solidFill>
              <a:srgbClr val="1C1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74720" y="16002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  <a:latin typeface="Arial"/>
              </a:defRPr>
            </a:pPr>
            <a:r>
              <a:t>💡  Решение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1965960"/>
            <a:ext cx="2194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A0"/>
                </a:solidFill>
                <a:latin typeface="Arial"/>
              </a:defRPr>
            </a:pPr>
            <a:r>
              <a:t>Веб-платформа с каталогом специалистов, рейтингами, портфолио и возможностью связаться напрямую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463040"/>
            <a:ext cx="2560320" cy="1828800"/>
          </a:xfrm>
          <a:prstGeom prst="roundRect">
            <a:avLst/>
          </a:prstGeom>
          <a:solidFill>
            <a:srgbClr val="0C0C14"/>
          </a:solidFill>
          <a:ln w="12700">
            <a:solidFill>
              <a:srgbClr val="1C1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17920" y="16002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  <a:latin typeface="Arial"/>
              </a:defRPr>
            </a:pPr>
            <a:r>
              <a:t>🎯  Цель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965960"/>
            <a:ext cx="2194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A0"/>
                </a:solidFill>
                <a:latin typeface="Arial"/>
              </a:defRPr>
            </a:pPr>
            <a:r>
              <a:t>Создать удобный сервис для быстрого поиска, фильтрации и найма IT-профессионалов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6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0" y="274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78BFA"/>
                </a:solidFill>
                <a:latin typeface="Arial"/>
              </a:defRPr>
            </a:pPr>
            <a:r>
              <a:t>ТЕХНОЛОГИИ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E8E8F0"/>
                </a:solidFill>
                <a:latin typeface="Arial"/>
              </a:defRPr>
            </a:pPr>
            <a:r>
              <a:t>Стек технологий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" y="1371600"/>
            <a:ext cx="1645920" cy="914400"/>
          </a:xfrm>
          <a:prstGeom prst="roundRect">
            <a:avLst/>
          </a:prstGeom>
          <a:solidFill>
            <a:srgbClr val="0C0C14"/>
          </a:solidFill>
          <a:ln w="12700">
            <a:solidFill>
              <a:srgbClr val="1C1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444752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E8E8F0"/>
                </a:solidFill>
                <a:latin typeface="Arial"/>
              </a:defRPr>
            </a:pPr>
            <a:r>
              <a:t>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901952"/>
            <a:ext cx="16459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8A0"/>
                </a:solidFill>
                <a:latin typeface="Arial"/>
              </a:defRPr>
            </a:pPr>
            <a:r>
              <a:rPr dirty="0"/>
              <a:t>Python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34640" y="1371600"/>
            <a:ext cx="1645920" cy="914400"/>
          </a:xfrm>
          <a:prstGeom prst="roundRect">
            <a:avLst/>
          </a:prstGeom>
          <a:solidFill>
            <a:srgbClr val="0C0C14"/>
          </a:solidFill>
          <a:ln w="12700">
            <a:solidFill>
              <a:srgbClr val="1C1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834640" y="1444752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E8E8F0"/>
                </a:solidFill>
                <a:latin typeface="Arial"/>
              </a:defRPr>
            </a:pPr>
            <a:r>
              <a:t>🌶️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1901952"/>
            <a:ext cx="16459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8A0"/>
                </a:solidFill>
                <a:latin typeface="Arial"/>
              </a:defRPr>
            </a:pPr>
            <a:r>
              <a:rPr dirty="0"/>
              <a:t>Flask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1371600"/>
            <a:ext cx="1645920" cy="914400"/>
          </a:xfrm>
          <a:prstGeom prst="roundRect">
            <a:avLst/>
          </a:prstGeom>
          <a:solidFill>
            <a:srgbClr val="0C0C14"/>
          </a:solidFill>
          <a:ln w="12700">
            <a:solidFill>
              <a:srgbClr val="1C1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63440" y="1444752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E8E8F0"/>
                </a:solidFill>
                <a:latin typeface="Arial"/>
              </a:defRPr>
            </a:pPr>
            <a:r>
              <a:t>🗃️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190195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8A0"/>
                </a:solidFill>
                <a:latin typeface="Arial"/>
              </a:defRPr>
            </a:pPr>
            <a:r>
              <a:t>SQLAlchemy ORM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92240" y="1371600"/>
            <a:ext cx="1645920" cy="914400"/>
          </a:xfrm>
          <a:prstGeom prst="roundRect">
            <a:avLst/>
          </a:prstGeom>
          <a:solidFill>
            <a:srgbClr val="0C0C14"/>
          </a:solidFill>
          <a:ln w="12700">
            <a:solidFill>
              <a:srgbClr val="1C1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92240" y="1444752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E8E8F0"/>
                </a:solidFill>
                <a:latin typeface="Arial"/>
              </a:defRPr>
            </a:pPr>
            <a:r>
              <a:t>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190195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8A0"/>
                </a:solidFill>
                <a:latin typeface="Arial"/>
              </a:defRPr>
            </a:pPr>
            <a:r>
              <a:t>Flask-Login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5840" y="2560320"/>
            <a:ext cx="1645920" cy="914400"/>
          </a:xfrm>
          <a:prstGeom prst="roundRect">
            <a:avLst/>
          </a:prstGeom>
          <a:solidFill>
            <a:srgbClr val="0C0C14"/>
          </a:solidFill>
          <a:ln w="12700">
            <a:solidFill>
              <a:srgbClr val="1C1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05840" y="2633472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E8E8F0"/>
                </a:solidFill>
                <a:latin typeface="Arial"/>
              </a:defRPr>
            </a:pPr>
            <a:r>
              <a:t>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09067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8A0"/>
                </a:solidFill>
                <a:latin typeface="Arial"/>
              </a:defRPr>
            </a:pPr>
            <a:r>
              <a:t>SQLite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834640" y="2560320"/>
            <a:ext cx="1645920" cy="914400"/>
          </a:xfrm>
          <a:prstGeom prst="roundRect">
            <a:avLst/>
          </a:prstGeom>
          <a:solidFill>
            <a:srgbClr val="0C0C14"/>
          </a:solidFill>
          <a:ln w="12700">
            <a:solidFill>
              <a:srgbClr val="1C1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834640" y="2633472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E8E8F0"/>
                </a:solidFill>
                <a:latin typeface="Arial"/>
              </a:defRPr>
            </a:pPr>
            <a:r>
              <a:t>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34640" y="309067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8A0"/>
                </a:solidFill>
                <a:latin typeface="Arial"/>
              </a:defRPr>
            </a:pPr>
            <a:r>
              <a:t>Bootstrap 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63440" y="2560320"/>
            <a:ext cx="1645920" cy="914400"/>
          </a:xfrm>
          <a:prstGeom prst="roundRect">
            <a:avLst/>
          </a:prstGeom>
          <a:solidFill>
            <a:srgbClr val="0C0C14"/>
          </a:solidFill>
          <a:ln w="12700">
            <a:solidFill>
              <a:srgbClr val="1C1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663440" y="2633472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E8E8F0"/>
                </a:solidFill>
                <a:latin typeface="Arial"/>
              </a:defRPr>
            </a:pPr>
            <a:r>
              <a:t>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309067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8A0"/>
                </a:solidFill>
                <a:latin typeface="Arial"/>
              </a:defRPr>
            </a:pPr>
            <a:r>
              <a:t>REST API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92240" y="2560320"/>
            <a:ext cx="1645920" cy="914400"/>
          </a:xfrm>
          <a:prstGeom prst="roundRect">
            <a:avLst/>
          </a:prstGeom>
          <a:solidFill>
            <a:srgbClr val="0C0C14"/>
          </a:solidFill>
          <a:ln w="12700">
            <a:solidFill>
              <a:srgbClr val="1C1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92240" y="2633472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E8E8F0"/>
                </a:solidFill>
                <a:latin typeface="Arial"/>
              </a:defRPr>
            </a:pPr>
            <a:r>
              <a:t>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309067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8A0"/>
                </a:solidFill>
                <a:latin typeface="Arial"/>
              </a:defRPr>
            </a:pPr>
            <a:r>
              <a:t>File Upload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6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0" y="274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78BFA"/>
                </a:solidFill>
                <a:latin typeface="Arial"/>
              </a:defRPr>
            </a:pPr>
            <a:r>
              <a:t>АРХИТЕКТУРА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E8E8F0"/>
                </a:solidFill>
                <a:latin typeface="Arial"/>
              </a:defRPr>
            </a:pPr>
            <a:r>
              <a:t>Структура приложения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371600"/>
            <a:ext cx="1554480" cy="1097280"/>
          </a:xfrm>
          <a:prstGeom prst="roundRect">
            <a:avLst/>
          </a:prstGeom>
          <a:solidFill>
            <a:srgbClr val="0C0C14"/>
          </a:solidFill>
          <a:ln w="12700">
            <a:solidFill>
              <a:srgbClr val="1C1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141732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E8E8F0"/>
                </a:solidFill>
                <a:latin typeface="Arial"/>
              </a:defRPr>
            </a:pPr>
            <a:r>
              <a:t>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82880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8E8F0"/>
                </a:solidFill>
                <a:latin typeface="Arial"/>
              </a:defRPr>
            </a:pPr>
            <a:r>
              <a:t>Пользователь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12140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888A0"/>
                </a:solidFill>
                <a:latin typeface="Arial"/>
              </a:defRPr>
            </a:pPr>
            <a:r>
              <a:t>Browser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6459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8B5CF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77440" y="1371600"/>
            <a:ext cx="1554480" cy="1097280"/>
          </a:xfrm>
          <a:prstGeom prst="roundRect">
            <a:avLst/>
          </a:prstGeom>
          <a:solidFill>
            <a:srgbClr val="0C0C14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377440" y="141732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E8E8F0"/>
                </a:solidFill>
                <a:latin typeface="Arial"/>
              </a:defRPr>
            </a:pPr>
            <a:r>
              <a:t>🌶️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182880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8E8F0"/>
                </a:solidFill>
                <a:latin typeface="Arial"/>
              </a:defRPr>
            </a:pPr>
            <a:r>
              <a:t>Flask App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7440" y="212140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888A0"/>
                </a:solidFill>
                <a:latin typeface="Arial"/>
              </a:defRPr>
            </a:pPr>
            <a:r>
              <a:t>Routes + 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77639" y="16459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8B5CF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80560" y="1371600"/>
            <a:ext cx="1554480" cy="1097280"/>
          </a:xfrm>
          <a:prstGeom prst="roundRect">
            <a:avLst/>
          </a:prstGeom>
          <a:solidFill>
            <a:srgbClr val="0C0C14"/>
          </a:solidFill>
          <a:ln w="12700">
            <a:solidFill>
              <a:srgbClr val="1C1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80560" y="141732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E8E8F0"/>
                </a:solidFill>
                <a:latin typeface="Arial"/>
              </a:defRPr>
            </a:pPr>
            <a:r>
              <a:t>🗃️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182880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8E8F0"/>
                </a:solidFill>
                <a:latin typeface="Arial"/>
              </a:defRPr>
            </a:pPr>
            <a:r>
              <a:t>SQLAlchemy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212140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888A0"/>
                </a:solidFill>
                <a:latin typeface="Arial"/>
              </a:defRPr>
            </a:pPr>
            <a:r>
              <a:t>ORM Models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0760" y="16459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8B5CF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0" y="1371600"/>
            <a:ext cx="1554480" cy="1097280"/>
          </a:xfrm>
          <a:prstGeom prst="roundRect">
            <a:avLst/>
          </a:prstGeom>
          <a:solidFill>
            <a:srgbClr val="0C0C14"/>
          </a:solidFill>
          <a:ln w="12700">
            <a:solidFill>
              <a:srgbClr val="1C1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83680" y="141732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E8E8F0"/>
                </a:solidFill>
                <a:latin typeface="Arial"/>
              </a:defRPr>
            </a:pPr>
            <a:r>
              <a:t>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182880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8E8F0"/>
                </a:solidFill>
                <a:latin typeface="Arial"/>
              </a:defRPr>
            </a:pPr>
            <a:r>
              <a:t>SQLite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212140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888A0"/>
                </a:solidFill>
                <a:latin typeface="Arial"/>
              </a:defRPr>
            </a:pPr>
            <a:r>
              <a:t>Database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71600" y="2743200"/>
            <a:ext cx="6400800" cy="1828800"/>
          </a:xfrm>
          <a:prstGeom prst="roundRect">
            <a:avLst/>
          </a:prstGeom>
          <a:solidFill>
            <a:srgbClr val="0C0C14"/>
          </a:solidFill>
          <a:ln w="12700">
            <a:solidFill>
              <a:srgbClr val="1C1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554480" y="2834640"/>
            <a:ext cx="6035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A0"/>
                </a:solidFill>
                <a:latin typeface="Arial"/>
              </a:defRPr>
            </a:pPr>
            <a:r>
              <a:t>flask_project/</a:t>
            </a:r>
            <a:br/>
            <a:r>
              <a:t>├── app.py            # Приложение (1400+ строк)</a:t>
            </a:r>
            <a:br/>
            <a:r>
              <a:t>├── wsgi.py           # Точка входа для хостинга</a:t>
            </a:r>
            <a:br/>
            <a:r>
              <a:t>├── data/             # ORM модели (Specialist, User)</a:t>
            </a:r>
            <a:br/>
            <a:r>
              <a:t>├── templates/        # Jinja2 шаблоны (2000+ строк)</a:t>
            </a:r>
            <a:br/>
            <a:r>
              <a:t>├── static/css/       # Стили (660+ строк)</a:t>
            </a:r>
            <a:br/>
            <a:r>
              <a:t>└── team_portfolio.db # SQLite база данных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6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0" y="274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78BFA"/>
                </a:solidFill>
                <a:latin typeface="Arial"/>
              </a:defRPr>
            </a:pPr>
            <a:r>
              <a:t>ФУНКЦИОНАЛ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E8E8F0"/>
                </a:solidFill>
                <a:latin typeface="Arial"/>
              </a:defRPr>
            </a:pPr>
            <a:r>
              <a:t>Реализованные функции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234440"/>
            <a:ext cx="7315200" cy="640080"/>
          </a:xfrm>
          <a:prstGeom prst="roundRect">
            <a:avLst/>
          </a:prstGeom>
          <a:solidFill>
            <a:srgbClr val="0C0C14"/>
          </a:solidFill>
          <a:ln w="12700">
            <a:solidFill>
              <a:srgbClr val="1C1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51560" y="13716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4D399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30759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8E8F0"/>
                </a:solidFill>
                <a:latin typeface="Arial"/>
              </a:defRPr>
            </a:pPr>
            <a:r>
              <a:t>Авторизация и регистрация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581912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A0"/>
                </a:solidFill>
                <a:latin typeface="Arial"/>
              </a:defRPr>
            </a:pPr>
            <a:r>
              <a:t>Flask-Login, хэширование паролей Werkzeug, роли admin / user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947672"/>
            <a:ext cx="7315200" cy="640080"/>
          </a:xfrm>
          <a:prstGeom prst="roundRect">
            <a:avLst/>
          </a:prstGeom>
          <a:solidFill>
            <a:srgbClr val="0C0C14"/>
          </a:solidFill>
          <a:ln w="12700">
            <a:solidFill>
              <a:srgbClr val="1C1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51560" y="2084831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4D399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020824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8E8F0"/>
                </a:solidFill>
                <a:latin typeface="Arial"/>
              </a:defRPr>
            </a:pPr>
            <a:r>
              <a:t>Каталог из 40 специалистов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2295144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A0"/>
                </a:solidFill>
                <a:latin typeface="Arial"/>
              </a:defRPr>
            </a:pPr>
            <a:r>
              <a:t>Поиск по имени / навыкам, фильтры по категории и доступности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2660904"/>
            <a:ext cx="7315200" cy="640080"/>
          </a:xfrm>
          <a:prstGeom prst="roundRect">
            <a:avLst/>
          </a:prstGeom>
          <a:solidFill>
            <a:srgbClr val="0C0C14"/>
          </a:solidFill>
          <a:ln w="12700">
            <a:solidFill>
              <a:srgbClr val="1C1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51560" y="2798064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4D399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2734056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8E8F0"/>
                </a:solidFill>
                <a:latin typeface="Arial"/>
              </a:defRPr>
            </a:pPr>
            <a:r>
              <a:t>Админ-панель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008376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A0"/>
                </a:solidFill>
                <a:latin typeface="Arial"/>
              </a:defRPr>
            </a:pPr>
            <a:r>
              <a:t>CRUD-операции, загрузка аватаров, управление пользователями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374136"/>
            <a:ext cx="7315200" cy="640080"/>
          </a:xfrm>
          <a:prstGeom prst="roundRect">
            <a:avLst/>
          </a:prstGeom>
          <a:solidFill>
            <a:srgbClr val="0C0C14"/>
          </a:solidFill>
          <a:ln w="12700">
            <a:solidFill>
              <a:srgbClr val="1C1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51560" y="3511296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4D399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344728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8E8F0"/>
                </a:solidFill>
                <a:latin typeface="Arial"/>
              </a:defRPr>
            </a:pPr>
            <a:r>
              <a:t>REST API + документация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3721608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A0"/>
                </a:solidFill>
                <a:latin typeface="Arial"/>
              </a:defRPr>
            </a:pPr>
            <a:r>
              <a:t>9 endpoints (GET/POST/PUT/DELETE), интерактивный тестер запросов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4087368"/>
            <a:ext cx="7315200" cy="640080"/>
          </a:xfrm>
          <a:prstGeom prst="roundRect">
            <a:avLst/>
          </a:prstGeom>
          <a:solidFill>
            <a:srgbClr val="0C0C14"/>
          </a:solidFill>
          <a:ln w="12700">
            <a:solidFill>
              <a:srgbClr val="1C1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51560" y="4224528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4D399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4160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8E8F0"/>
                </a:solidFill>
                <a:latin typeface="Arial"/>
              </a:defRPr>
            </a:pPr>
            <a:r>
              <a:t>Хранение данных в SQLite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443484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A0"/>
                </a:solidFill>
                <a:latin typeface="Arial"/>
              </a:defRPr>
            </a:pPr>
            <a:r>
              <a:t>ORM-модели Specialist и User, автоматическое создание БД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6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0" y="274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78BFA"/>
                </a:solidFill>
                <a:latin typeface="Arial"/>
              </a:defRPr>
            </a:pPr>
            <a:r>
              <a:t>КРИТЕРИИ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E8E8F0"/>
                </a:solidFill>
                <a:latin typeface="Arial"/>
              </a:defRPr>
            </a:pPr>
            <a:r>
              <a:t>Применённые технологии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43000"/>
            <a:ext cx="8229600" cy="384048"/>
          </a:xfrm>
          <a:prstGeom prst="roundRect">
            <a:avLst/>
          </a:prstGeom>
          <a:solidFill>
            <a:srgbClr val="0C0C14"/>
          </a:solidFill>
          <a:ln w="12700">
            <a:solidFill>
              <a:srgbClr val="1C1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18872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4D399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1887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8E8F0"/>
                </a:solidFill>
                <a:latin typeface="Arial"/>
              </a:defRPr>
            </a:pPr>
            <a:r>
              <a:t>requirements.txt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11887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A0"/>
                </a:solidFill>
                <a:latin typeface="Arial"/>
              </a:defRPr>
            </a:pPr>
            <a:r>
              <a:t>Flask, SQLAlchemy, Flask-Login, Werkzeug, gunicorn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600200"/>
            <a:ext cx="8229600" cy="384048"/>
          </a:xfrm>
          <a:prstGeom prst="roundRect">
            <a:avLst/>
          </a:prstGeom>
          <a:solidFill>
            <a:srgbClr val="0C0C14"/>
          </a:solidFill>
          <a:ln w="12700">
            <a:solidFill>
              <a:srgbClr val="1C1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64592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4D399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6459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8E8F0"/>
                </a:solidFill>
                <a:latin typeface="Arial"/>
              </a:defRPr>
            </a:pPr>
            <a:r>
              <a:t>Bootstrap (фреймворк)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16459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A0"/>
                </a:solidFill>
                <a:latin typeface="Arial"/>
              </a:defRPr>
            </a:pPr>
            <a:r>
              <a:t>Bootstrap 5.3.2 + Bootstrap Icons через CDN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057400"/>
            <a:ext cx="8229600" cy="384048"/>
          </a:xfrm>
          <a:prstGeom prst="roundRect">
            <a:avLst/>
          </a:prstGeom>
          <a:solidFill>
            <a:srgbClr val="0C0C14"/>
          </a:solidFill>
          <a:ln w="12700">
            <a:solidFill>
              <a:srgbClr val="1C1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" y="210312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4D399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1031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8E8F0"/>
                </a:solidFill>
                <a:latin typeface="Arial"/>
              </a:defRPr>
            </a:pPr>
            <a:r>
              <a:t>ORM-модели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21031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A0"/>
                </a:solidFill>
                <a:latin typeface="Arial"/>
              </a:defRPr>
            </a:pPr>
            <a:r>
              <a:t>SQLAlchemy: Specialist (21 поле), User (6 полей)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514600"/>
            <a:ext cx="8229600" cy="384048"/>
          </a:xfrm>
          <a:prstGeom prst="roundRect">
            <a:avLst/>
          </a:prstGeom>
          <a:solidFill>
            <a:srgbClr val="0C0C14"/>
          </a:solidFill>
          <a:ln w="12700">
            <a:solidFill>
              <a:srgbClr val="1C1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4360" y="256032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4D399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25603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8E8F0"/>
                </a:solidFill>
                <a:latin typeface="Arial"/>
              </a:defRPr>
            </a:pPr>
            <a:r>
              <a:t>Регистрация и авторизация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31920" y="25603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A0"/>
                </a:solidFill>
                <a:latin typeface="Arial"/>
              </a:defRPr>
            </a:pPr>
            <a:r>
              <a:t>Flask-Login, хэширование паролей, @login_required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2971800"/>
            <a:ext cx="8229600" cy="384048"/>
          </a:xfrm>
          <a:prstGeom prst="roundRect">
            <a:avLst/>
          </a:prstGeom>
          <a:solidFill>
            <a:srgbClr val="0C0C14"/>
          </a:solidFill>
          <a:ln w="12700">
            <a:solidFill>
              <a:srgbClr val="1C1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94360" y="301752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4D399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30175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8E8F0"/>
                </a:solidFill>
                <a:latin typeface="Arial"/>
              </a:defRPr>
            </a:pPr>
            <a:r>
              <a:t>Загрузка и использование файлов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31920" y="3017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A0"/>
                </a:solidFill>
                <a:latin typeface="Arial"/>
              </a:defRPr>
            </a:pPr>
            <a:r>
              <a:t>Аватары специалистов, UPLOAD_FOLDER, secure_filename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3429000"/>
            <a:ext cx="8229600" cy="384048"/>
          </a:xfrm>
          <a:prstGeom prst="roundRect">
            <a:avLst/>
          </a:prstGeom>
          <a:solidFill>
            <a:srgbClr val="0C0C14"/>
          </a:solidFill>
          <a:ln w="12700">
            <a:solidFill>
              <a:srgbClr val="1C1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94360" y="347472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4D399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34747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8E8F0"/>
                </a:solidFill>
                <a:latin typeface="Arial"/>
              </a:defRPr>
            </a:pPr>
            <a:r>
              <a:t>REST API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31920" y="34747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A0"/>
                </a:solidFill>
                <a:latin typeface="Arial"/>
              </a:defRPr>
            </a:pPr>
            <a:r>
              <a:t>9 endpoints: GET / POST / PUT / DELETE + X-API-Key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3886200"/>
            <a:ext cx="8229600" cy="384048"/>
          </a:xfrm>
          <a:prstGeom prst="roundRect">
            <a:avLst/>
          </a:prstGeom>
          <a:solidFill>
            <a:srgbClr val="0C0C14"/>
          </a:solidFill>
          <a:ln w="12700">
            <a:solidFill>
              <a:srgbClr val="1C1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94360" y="393192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4D399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39319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8E8F0"/>
                </a:solidFill>
                <a:latin typeface="Arial"/>
              </a:defRPr>
            </a:pPr>
            <a:r>
              <a:t>Хранение данных (БД)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931920" y="39319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A0"/>
                </a:solidFill>
                <a:latin typeface="Arial"/>
              </a:defRPr>
            </a:pPr>
            <a:r>
              <a:t>SQLite — team_portfolio.db, автоинициализация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4343400"/>
            <a:ext cx="8229600" cy="384048"/>
          </a:xfrm>
          <a:prstGeom prst="roundRect">
            <a:avLst/>
          </a:prstGeom>
          <a:solidFill>
            <a:srgbClr val="0C0C14"/>
          </a:solidFill>
          <a:ln w="12700">
            <a:solidFill>
              <a:srgbClr val="1C1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94360" y="438912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4D399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43891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8E8F0"/>
                </a:solidFill>
                <a:latin typeface="Arial"/>
              </a:defRPr>
            </a:pPr>
            <a:r>
              <a:t>Хостинг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931920" y="43891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A0"/>
                </a:solidFill>
                <a:latin typeface="Arial"/>
              </a:defRPr>
            </a:pPr>
            <a:r>
              <a:t>wsgi.py + Procfile, готово к деплою на PythonAnywhere / Render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6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0" y="274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78BFA"/>
                </a:solidFill>
                <a:latin typeface="Arial"/>
              </a:defRPr>
            </a:pPr>
            <a:r>
              <a:t>СТАТИСТИКА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E8E8F0"/>
                </a:solidFill>
                <a:latin typeface="Arial"/>
              </a:defRPr>
            </a:pPr>
            <a:r>
              <a:t>Проект в цифрах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A78BFA"/>
                </a:solidFill>
                <a:latin typeface="Arial"/>
              </a:defRPr>
            </a:pPr>
            <a:r>
              <a:t>4000+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3317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A0"/>
                </a:solidFill>
                <a:latin typeface="Arial"/>
              </a:defRPr>
            </a:pPr>
            <a:r>
              <a:t>Строк кода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64592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A78BFA"/>
                </a:solidFill>
                <a:latin typeface="Arial"/>
              </a:defRPr>
            </a:pPr>
            <a:r>
              <a:t>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0" y="23317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A0"/>
                </a:solidFill>
                <a:latin typeface="Arial"/>
              </a:defRPr>
            </a:pPr>
            <a:r>
              <a:t>Специалистов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79" y="164592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A78BFA"/>
                </a:solidFill>
                <a:latin typeface="Arial"/>
              </a:defRPr>
            </a:pPr>
            <a:r>
              <a:t>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79" y="23317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A0"/>
                </a:solidFill>
                <a:latin typeface="Arial"/>
              </a:defRPr>
            </a:pPr>
            <a:r>
              <a:t>Категорий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7999" y="164592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A78BFA"/>
                </a:solidFill>
                <a:latin typeface="Arial"/>
              </a:defRPr>
            </a:pPr>
            <a:r>
              <a:t>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7999" y="23317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A0"/>
                </a:solidFill>
                <a:latin typeface="Arial"/>
              </a:defRPr>
            </a:pPr>
            <a:r>
              <a:t>API endpoints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017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A0"/>
                </a:solidFill>
                <a:latin typeface="Arial"/>
              </a:defRPr>
            </a:pPr>
            <a:r>
              <a:t>6 HTML-шаблонов (Jinja2)  •  Космическая тема со звёздами  •  Glassmorphism эффекты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383279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A0"/>
                </a:solidFill>
                <a:latin typeface="Arial"/>
              </a:defRPr>
            </a:pPr>
            <a:r>
              <a:t>Поиск и фильтрация  •  Анимации AOS  •  Адаптивный дизайн  •  Интерактивный тестер API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6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0" y="274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78BFA"/>
                </a:solidFill>
                <a:latin typeface="Arial"/>
              </a:defRPr>
            </a:pPr>
            <a:r>
              <a:t>ЗАКЛЮЧЕНИЕ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E8E8F0"/>
                </a:solidFill>
                <a:latin typeface="Arial"/>
              </a:defRPr>
            </a:pPr>
            <a:r>
              <a:t>Выводы и развитие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2560320" cy="2011680"/>
          </a:xfrm>
          <a:prstGeom prst="roundRect">
            <a:avLst/>
          </a:prstGeom>
          <a:solidFill>
            <a:srgbClr val="0C0C14"/>
          </a:solidFill>
          <a:ln w="12700">
            <a:solidFill>
              <a:srgbClr val="1C1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  <a:latin typeface="Arial"/>
              </a:defRPr>
            </a:pPr>
            <a:r>
              <a:t>✅  Что сделано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74519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A0"/>
                </a:solidFill>
                <a:latin typeface="Arial"/>
              </a:defRPr>
            </a:pPr>
            <a:r>
              <a:t>Полнофункциональная платформа с авторизацией, каталогом 40 специалистов, админ-панелью и REST API с документацией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40" y="1371600"/>
            <a:ext cx="2560320" cy="2011680"/>
          </a:xfrm>
          <a:prstGeom prst="roundRect">
            <a:avLst/>
          </a:prstGeom>
          <a:solidFill>
            <a:srgbClr val="0C0C14"/>
          </a:solidFill>
          <a:ln w="12700">
            <a:solidFill>
              <a:srgbClr val="1C1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74720" y="15087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  <a:latin typeface="Arial"/>
              </a:defRPr>
            </a:pPr>
            <a:r>
              <a:t>📚  Чему научились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1874519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A0"/>
                </a:solidFill>
                <a:latin typeface="Arial"/>
              </a:defRPr>
            </a:pPr>
            <a:r>
              <a:t>Flask, SQLAlchemy ORM, REST API, Flask-Login, Bootstrap 5, работа в команде, проектирование БД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371600"/>
            <a:ext cx="2560320" cy="2011680"/>
          </a:xfrm>
          <a:prstGeom prst="roundRect">
            <a:avLst/>
          </a:prstGeom>
          <a:solidFill>
            <a:srgbClr val="0C0C14"/>
          </a:solidFill>
          <a:ln w="12700">
            <a:solidFill>
              <a:srgbClr val="1C1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17920" y="15087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  <a:latin typeface="Arial"/>
              </a:defRPr>
            </a:pPr>
            <a:r>
              <a:t>🚀  Планы развития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874519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A0"/>
                </a:solidFill>
                <a:latin typeface="Arial"/>
              </a:defRPr>
            </a:pPr>
            <a:r>
              <a:t>Чат между работодателем и специалистом, система отзывов, онлайн-оплата, уведомления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6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A78BFA"/>
                </a:solidFill>
                <a:latin typeface="Arial"/>
              </a:defRPr>
            </a:pPr>
            <a:r>
              <a:t>Спасибо за внимание!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8888A0"/>
                </a:solidFill>
                <a:latin typeface="Arial"/>
              </a:defRPr>
            </a:pPr>
            <a:r>
              <a:t>Готовы ответить на вопросы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0" y="2651760"/>
            <a:ext cx="2743200" cy="1828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2103120" y="2926080"/>
            <a:ext cx="2377440" cy="1280160"/>
          </a:xfrm>
          <a:prstGeom prst="roundRect">
            <a:avLst/>
          </a:prstGeom>
          <a:solidFill>
            <a:srgbClr val="0C0C14"/>
          </a:solidFill>
          <a:ln w="12700">
            <a:solidFill>
              <a:srgbClr val="1C1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103120" y="29718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E8E8F0"/>
                </a:solidFill>
                <a:latin typeface="Arial"/>
              </a:defRPr>
            </a:pPr>
            <a:r>
              <a:t>👨‍💻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34061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A78BFA"/>
                </a:solidFill>
                <a:latin typeface="Arial"/>
              </a:defRPr>
            </a:pPr>
            <a:r>
              <a:rPr lang="ru-RU" dirty="0"/>
              <a:t>Протасов Фёдор </a:t>
            </a: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2103120" y="37033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8A0"/>
                </a:solidFill>
                <a:latin typeface="Arial"/>
              </a:defRPr>
            </a:pPr>
            <a:r>
              <a:t>Backend, API, БД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46320" y="2926080"/>
            <a:ext cx="2377440" cy="1280160"/>
          </a:xfrm>
          <a:prstGeom prst="roundRect">
            <a:avLst/>
          </a:prstGeom>
          <a:solidFill>
            <a:srgbClr val="0C0C14"/>
          </a:solidFill>
          <a:ln w="12700">
            <a:solidFill>
              <a:srgbClr val="1C1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846320" y="29718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E8E8F0"/>
                </a:solidFill>
                <a:latin typeface="Arial"/>
              </a:defRPr>
            </a:pPr>
            <a:r>
              <a:t>👨‍💻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3398278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A78BFA"/>
                </a:solidFill>
                <a:latin typeface="Arial"/>
              </a:defRPr>
            </a:pPr>
            <a:r>
              <a:rPr lang="ru-RU" dirty="0"/>
              <a:t>Шепелев Степан </a:t>
            </a:r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4846320" y="37033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8A0"/>
                </a:solidFill>
                <a:latin typeface="Arial"/>
              </a:defRPr>
            </a:pPr>
            <a:r>
              <a:t>Frontend, UI/UX, Шаблоны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495</Words>
  <Application>Microsoft Office PowerPoint</Application>
  <PresentationFormat>Экран (16:9)</PresentationFormat>
  <Paragraphs>119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keywords/>
  <dc:description>generated using python-pptx</dc:description>
  <cp:lastModifiedBy>Степан Шепелев</cp:lastModifiedBy>
  <cp:revision>3</cp:revision>
  <dcterms:created xsi:type="dcterms:W3CDTF">2013-01-27T09:14:16Z</dcterms:created>
  <dcterms:modified xsi:type="dcterms:W3CDTF">2026-05-14T17:24:54Z</dcterms:modified>
  <cp:category/>
</cp:coreProperties>
</file>